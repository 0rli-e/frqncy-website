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QNCY_MASTER">
    <p:bg>
      <p:bgPr>
        <a:solidFill>
          <a:srgbClr val="0B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3D"/>
          </a:solidFill>
          <a:ln/>
        </p:spPr>
      </p:sp>
      <p:sp>
        <p:nvSpPr>
          <p:cNvPr id="3" name="Text 1"/>
          <p:cNvSpPr/>
          <p:nvPr/>
        </p:nvSpPr>
        <p:spPr>
          <a:xfrm>
            <a:off x="886968" y="301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FRQNCY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86968" y="6583680"/>
            <a:ext cx="1828800" cy="0"/>
          </a:xfrm>
          <a:prstGeom prst="line">
            <a:avLst/>
          </a:prstGeom>
          <a:noFill/>
          <a:ln w="9525">
            <a:solidFill>
              <a:srgbClr val="C4973A">
                <a:alpha val="55000"/>
              </a:srgbClr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COVER  ·  01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FRQNCY ·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Built on the foundations of oneness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711800" y="1965960"/>
            <a:ext cx="768096" cy="0"/>
          </a:xfrm>
          <a:prstGeom prst="line">
            <a:avLst/>
          </a:prstGeom>
          <a:noFill/>
          <a:ln w="22225">
            <a:solidFill>
              <a:srgbClr val="C497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5848" y="1581912"/>
            <a:ext cx="0" cy="768096"/>
          </a:xfrm>
          <a:prstGeom prst="line">
            <a:avLst/>
          </a:prstGeom>
          <a:noFill/>
          <a:ln w="22225">
            <a:solidFill>
              <a:srgbClr val="C497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23174" y="1693286"/>
            <a:ext cx="545348" cy="545348"/>
          </a:xfrm>
          <a:prstGeom prst="line">
            <a:avLst/>
          </a:prstGeom>
          <a:noFill/>
          <a:ln w="22225">
            <a:solidFill>
              <a:srgbClr val="C497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23174" y="2238634"/>
            <a:ext cx="545348" cy="-545348"/>
          </a:xfrm>
          <a:prstGeom prst="line">
            <a:avLst/>
          </a:prstGeom>
          <a:noFill/>
          <a:ln w="22225">
            <a:solidFill>
              <a:srgbClr val="C497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54700" y="1924812"/>
            <a:ext cx="82296" cy="82296"/>
          </a:xfrm>
          <a:prstGeom prst="ellipse">
            <a:avLst/>
          </a:prstGeom>
          <a:solidFill>
            <a:srgbClr val="C4973A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spc="6000" kern="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FRQNCY</a:t>
            </a:r>
            <a:endParaRPr lang="en-US" sz="14000" dirty="0"/>
          </a:p>
        </p:txBody>
      </p:sp>
      <p:sp>
        <p:nvSpPr>
          <p:cNvPr id="11" name="Shape 9"/>
          <p:cNvSpPr/>
          <p:nvPr/>
        </p:nvSpPr>
        <p:spPr>
          <a:xfrm>
            <a:off x="4952848" y="4160520"/>
            <a:ext cx="228600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Built on the foundations of oneness.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0" y="48920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curation network for the spiritual marketplace.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0" y="576072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INVESTOR BRIEF  ·  SEED ROUND  ·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PRESENTER  ·  02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founder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person. One frequency. One mission.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PRESENTER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828800"/>
            <a:ext cx="104177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Orlando Eisenreich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86968" y="2788920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Founder · Steward of FRQNCY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86968" y="356616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749040"/>
            <a:ext cx="630295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spc="2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Builder at the intersection of technology, media, and consciousness. Nine years in product and platform work. Raised in Munich, aligned with a global network of seekers, stewards, and practitioners already in motion.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47127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CONTACT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47127" y="40690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orlando@frqncy.network
</a:t>
            </a:r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frqncy.network
</a:t>
            </a:r>
            <a:pPr indent="0" marL="0">
              <a:buNone/>
            </a:pPr>
            <a:r>
              <a:rPr lang="en-US" sz="1300" spc="1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Munich · Remote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VISION  ·  03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Our north star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spiritual library for the age of seekers.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VISION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828800"/>
            <a:ext cx="1041775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To create a future in which
</a:t>
            </a:r>
            <a:pPr indent="0" marL="0">
              <a:buNone/>
            </a:pPr>
            <a:r>
              <a:rPr lang="en-US" sz="56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the light </a:t>
            </a:r>
            <a:pPr indent="0" marL="0">
              <a:buNone/>
            </a:pPr>
            <a:r>
              <a:rPr lang="en-US" sz="56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dominates.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86968" y="4160520"/>
            <a:ext cx="10417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</a:t>
            </a:r>
            <a:pPr indent="0" marL="0">
              <a:buNone/>
            </a:pPr>
            <a:r>
              <a:rPr lang="en-US" sz="1500" b="1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SPIRITUAL LIBRARY</a:t>
            </a:r>
            <a:pPr indent="0" marL="0">
              <a:buNone/>
            </a:pPr>
            <a:r>
              <a:rPr lang="en-US" sz="15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 FOR THE AGE OF SEEKERS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86968" y="457200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4800600"/>
            <a:ext cx="904615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spc="2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 believe the most important resource on the planet is a human being in alignment — and the most valuable network is the one that helps more of them get there.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PROBLEM  ·  04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pain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generation of seekers with nowhere coherent to go.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828800"/>
            <a:ext cx="104177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A widening gap between
</a:t>
            </a:r>
            <a:pPr indent="0" marL="0">
              <a:buNone/>
            </a:pPr>
            <a:r>
              <a:rPr lang="en-US" sz="54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what was, </a:t>
            </a:r>
            <a:pPr indent="0" marL="0">
              <a:buNone/>
            </a:pPr>
            <a:r>
              <a:rPr lang="en-US" sz="54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and what is becoming.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886968" y="3840480"/>
            <a:ext cx="201168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4160520"/>
            <a:ext cx="3243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SEEKERS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4480560"/>
            <a:ext cx="324398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Scattered across 14 domains, 10,000 creators, and no trusted library. They waste years finding what should take weeks.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59554" y="4160520"/>
            <a:ext cx="3243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PRACTITIONERS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59554" y="4480560"/>
            <a:ext cx="324398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Talented teachers, healers, and makers without distribution — invisible to the very people looking for them.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32141" y="4160520"/>
            <a:ext cx="3243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CAPITAL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32141" y="4480560"/>
            <a:ext cx="324398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Wellness is a $1.8T category with no coherent operator. Every dollar fragments into another siloed app.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OPPORTUNITY  ·  05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FRQNCY's role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cooperative layer for conscious commerce.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OPPORTUNITY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2011680"/>
            <a:ext cx="104177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We are </a:t>
            </a:r>
            <a:pPr indent="0" marL="0">
              <a:buNone/>
            </a:pPr>
            <a:r>
              <a:rPr lang="en-US" sz="72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the bridge.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886968" y="347472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3703320"/>
            <a:ext cx="950335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Between the old world — where meaning was outsourced to institutions — and the new, where each person becomes their own node. FRQNCY is the curation layer that makes the new world navigable.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VALUE  ·  06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math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priceless outcome — at a price.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VALUE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737360"/>
            <a:ext cx="104177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What is the joy of
</a:t>
            </a:r>
            <a:pPr indent="0" marL="0">
              <a:buNone/>
            </a:pPr>
            <a:r>
              <a:rPr lang="en-US" sz="58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waking up </a:t>
            </a:r>
            <a:pPr indent="0" marL="0">
              <a:buNone/>
            </a:pPr>
            <a:r>
              <a:rPr lang="en-US" sz="58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worth?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886968" y="370332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4023360"/>
            <a:ext cx="328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$1.8T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86968" y="4892040"/>
            <a:ext cx="328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Global wellness market (2024)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59554" y="4023360"/>
            <a:ext cx="328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75%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359554" y="4892040"/>
            <a:ext cx="328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Of Gen Z describe themselves as 'spiritual, not religious'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32141" y="4023360"/>
            <a:ext cx="328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€35/mo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7832141" y="4892040"/>
            <a:ext cx="328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For membership — less than a yoga pass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LANDSCAPE  ·  07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network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14 domains. One coherent map.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LANDSCAPE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691640"/>
            <a:ext cx="104177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The landscape of </a:t>
            </a:r>
            <a:pPr indent="0" marL="0">
              <a:buNone/>
            </a:pPr>
            <a:r>
              <a:rPr lang="en-US" sz="40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light &amp; consciousness.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86968" y="2468880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spc="2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And the network connecting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5848" y="4754880"/>
            <a:ext cx="0" cy="-992124"/>
          </a:xfrm>
          <a:prstGeom prst="line">
            <a:avLst/>
          </a:prstGeom>
          <a:noFill/>
          <a:ln w="6350">
            <a:solidFill>
              <a:srgbClr val="C4973A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5848" y="4754880"/>
            <a:ext cx="1227435" cy="-496062"/>
          </a:xfrm>
          <a:prstGeom prst="line">
            <a:avLst/>
          </a:prstGeom>
          <a:noFill/>
          <a:ln w="6350">
            <a:solidFill>
              <a:srgbClr val="C4973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5848" y="4754880"/>
            <a:ext cx="1227435" cy="496062"/>
          </a:xfrm>
          <a:prstGeom prst="line">
            <a:avLst/>
          </a:prstGeom>
          <a:noFill/>
          <a:ln w="6350">
            <a:solidFill>
              <a:srgbClr val="C4973A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5848" y="4754880"/>
            <a:ext cx="0" cy="992124"/>
          </a:xfrm>
          <a:prstGeom prst="line">
            <a:avLst/>
          </a:prstGeom>
          <a:noFill/>
          <a:ln w="6350">
            <a:solidFill>
              <a:srgbClr val="C4973A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4754880"/>
            <a:ext cx="-1227435" cy="496062"/>
          </a:xfrm>
          <a:prstGeom prst="line">
            <a:avLst/>
          </a:prstGeom>
          <a:noFill/>
          <a:ln w="6350">
            <a:solidFill>
              <a:srgbClr val="C4973A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5848" y="4754880"/>
            <a:ext cx="-1227435" cy="-496062"/>
          </a:xfrm>
          <a:prstGeom prst="line">
            <a:avLst/>
          </a:prstGeom>
          <a:noFill/>
          <a:ln w="6350">
            <a:solidFill>
              <a:srgbClr val="C4973A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3240" y="4462272"/>
            <a:ext cx="585216" cy="585216"/>
          </a:xfrm>
          <a:prstGeom prst="ellipse">
            <a:avLst/>
          </a:prstGeom>
          <a:solidFill>
            <a:srgbClr val="C4973A"/>
          </a:solidFill>
          <a:ln w="10160">
            <a:solidFill>
              <a:srgbClr val="F4DC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55768" y="51023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0" kern="0" dirty="0">
                <a:solidFill>
                  <a:srgbClr val="E8C97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FRQNCY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49544" y="3616452"/>
            <a:ext cx="292608" cy="292608"/>
          </a:xfrm>
          <a:prstGeom prst="ellipse">
            <a:avLst/>
          </a:prstGeom>
          <a:solidFill>
            <a:srgbClr val="091840"/>
          </a:solidFill>
          <a:ln w="9525">
            <a:solidFill>
              <a:srgbClr val="C49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7128" y="33649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TRANSCENDENCE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76979" y="4112514"/>
            <a:ext cx="292608" cy="292608"/>
          </a:xfrm>
          <a:prstGeom prst="ellipse">
            <a:avLst/>
          </a:prstGeom>
          <a:solidFill>
            <a:srgbClr val="091840"/>
          </a:solidFill>
          <a:ln w="9525">
            <a:solidFill>
              <a:srgbClr val="C49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70104" y="40050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CONSCIOUSNESS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76979" y="5104638"/>
            <a:ext cx="292608" cy="292608"/>
          </a:xfrm>
          <a:prstGeom prst="ellipse">
            <a:avLst/>
          </a:prstGeom>
          <a:solidFill>
            <a:srgbClr val="091840"/>
          </a:solidFill>
          <a:ln w="9525">
            <a:solidFill>
              <a:srgbClr val="C49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0104" y="5285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BODY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9544" y="5600700"/>
            <a:ext cx="292608" cy="292608"/>
          </a:xfrm>
          <a:prstGeom prst="ellipse">
            <a:avLst/>
          </a:prstGeom>
          <a:solidFill>
            <a:srgbClr val="091840"/>
          </a:solidFill>
          <a:ln w="9525">
            <a:solidFill>
              <a:srgbClr val="C497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7128" y="5925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CULTURE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22108" y="5104638"/>
            <a:ext cx="292608" cy="292608"/>
          </a:xfrm>
          <a:prstGeom prst="ellipse">
            <a:avLst/>
          </a:prstGeom>
          <a:solidFill>
            <a:srgbClr val="091840"/>
          </a:solidFill>
          <a:ln w="9525">
            <a:solidFill>
              <a:srgbClr val="C497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4151" y="52852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SOCIETY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22108" y="4112514"/>
            <a:ext cx="292608" cy="292608"/>
          </a:xfrm>
          <a:prstGeom prst="ellipse">
            <a:avLst/>
          </a:prstGeom>
          <a:solidFill>
            <a:srgbClr val="091840"/>
          </a:solidFill>
          <a:ln w="9525">
            <a:solidFill>
              <a:srgbClr val="C497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4151" y="40050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WORLD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TIMING  ·  08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Three currents meeting at one moment.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TIMING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783080"/>
            <a:ext cx="1041775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Technology and consciousness
</a:t>
            </a:r>
            <a:pPr indent="0" marL="0">
              <a:buNone/>
            </a:pPr>
            <a:r>
              <a:rPr lang="en-US" sz="44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finally converge.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86968" y="370332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3931920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7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POST-INSTITUTIONAL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4251960"/>
            <a:ext cx="24032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Trust in legacy religion, media, and medicine is collapsing. Seekers are looking elsewhere — in record numbers.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91408" y="3931920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7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AI-NATIVE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91408" y="4251960"/>
            <a:ext cx="24032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Curation is suddenly the scarcest resource. Humans with discernment can now build leverage that used to require a publisher.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5848" y="3931920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7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POST-MATERIALIST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95848" y="4251960"/>
            <a:ext cx="24032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generation raised on infinite scroll is asking the oldest question in a new language: is this all there is?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00287" y="3931920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7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COOPERATIVE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00287" y="4251960"/>
            <a:ext cx="24032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next great networks won't extract — they will align. FRQNCY is built on ownership, stewardship, and shared upside.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AUDIENCE  ·  09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Who we serve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 are not building for everyone. We are building for the ready.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AUDIENCE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783080"/>
            <a:ext cx="104177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Half of humanity.
</a:t>
            </a:r>
            <a:pPr indent="0" marL="0">
              <a:buNone/>
            </a:pPr>
            <a:r>
              <a:rPr lang="en-US" sz="36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Starting with those already ready.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886968" y="379476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4160520"/>
            <a:ext cx="324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SEEKER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4507992"/>
            <a:ext cx="3243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E8C97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~120M globally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4846320"/>
            <a:ext cx="32439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Actively exploring. Already spending on books, retreats, teachers. Craves a coherent library.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59554" y="4160520"/>
            <a:ext cx="324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PRACTITIONER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59554" y="4507992"/>
            <a:ext cx="3243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E8C97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~12M globally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59554" y="4846320"/>
            <a:ext cx="32439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Teaches, heals, creates. Invisible on mainstream platforms — trapped between Instagram and Substack.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32141" y="4160520"/>
            <a:ext cx="324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STEWARD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32141" y="4507992"/>
            <a:ext cx="3243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E8C97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~1M globally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32141" y="4846320"/>
            <a:ext cx="32439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Funds, convenes, builds. Has capital and conviction. Wants a home for conscious commerce.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MAGIC  ·  10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Under the hood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Technology in service of the field.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MAGIC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783080"/>
            <a:ext cx="104177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Three technical layers,
</a:t>
            </a:r>
            <a:pPr indent="0" marL="0">
              <a:buNone/>
            </a:pPr>
            <a:r>
              <a:rPr lang="en-US" sz="54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one coherent field.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886968" y="370332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4023360"/>
            <a:ext cx="3243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86968" y="4572000"/>
            <a:ext cx="3243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4892040"/>
            <a:ext cx="32439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AI-assisted editorial across 14 domains — books, practices, practitioners, organisations. Human discernment at the core.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59554" y="4023360"/>
            <a:ext cx="3243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359554" y="4572000"/>
            <a:ext cx="3243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MEMBER GRAPH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59554" y="4892040"/>
            <a:ext cx="32439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member has a frequency map — their resonance across domains — compounding over time into a living profile.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32141" y="4023360"/>
            <a:ext cx="32439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832141" y="4572000"/>
            <a:ext cx="3243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LEDGER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32141" y="4892040"/>
            <a:ext cx="324398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Contributions, referrals, and revenue flow transparently. The network owns and rewards the network.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BUILD  ·  11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Platform · Podcast · Space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compounding network, three surfaces.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THE 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783080"/>
            <a:ext cx="104177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Three starting moves.
</a:t>
            </a:r>
            <a:pPr indent="0" marL="0">
              <a:buNone/>
            </a:pPr>
            <a:r>
              <a:rPr lang="en-US" sz="54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One compounding network.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886968" y="370332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4023360"/>
            <a:ext cx="324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PLATFORM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4361688"/>
            <a:ext cx="324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THE LIBRARY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6968" y="4754880"/>
            <a:ext cx="324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curated map of 14 domains. Membership-based access to a living library of practices, people, and organisations.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5943600"/>
            <a:ext cx="3243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SHIP · Q3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59554" y="4023360"/>
            <a:ext cx="324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PODCAST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59554" y="4361688"/>
            <a:ext cx="324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THE VOICE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59554" y="4754880"/>
            <a:ext cx="324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Long-form conversations with the teachers already shaping the new paradigm. Discovery engine for the platform.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59554" y="5943600"/>
            <a:ext cx="3243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SHIP · Live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32141" y="4023360"/>
            <a:ext cx="324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2141" y="4361688"/>
            <a:ext cx="324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THE NODE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32141" y="4754880"/>
            <a:ext cx="324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Physical flagship in Europe. Members-only retreat + gathering house. Prototype for a global constellation.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32141" y="5943600"/>
            <a:ext cx="3243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SHIP · 2028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MODEL  ·  12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Revenue streams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Zero inventory. Five compounding streams.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783080"/>
            <a:ext cx="104177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Five revenue streams.
</a:t>
            </a:r>
            <a:pPr indent="0" marL="0">
              <a:buNone/>
            </a:pPr>
            <a:r>
              <a:rPr lang="en-US" sz="54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Zero inventory.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886968" y="370332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3931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81328" y="3977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MEMBERSHIP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87368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€35 / mo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27648" y="3977640"/>
            <a:ext cx="4977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Access to the curated library, member graph, and private gatherings.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" y="4370832"/>
            <a:ext cx="10417759" cy="0"/>
          </a:xfrm>
          <a:prstGeom prst="line">
            <a:avLst/>
          </a:prstGeom>
          <a:noFill/>
          <a:ln w="3175">
            <a:solidFill>
              <a:srgbClr val="8A9AB8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389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81328" y="4434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REV-SHARE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87368" y="4389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15–25%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27648" y="4434840"/>
            <a:ext cx="4977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piece of every course, retreat, and offering sold through the network.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6968" y="4828032"/>
            <a:ext cx="10417759" cy="0"/>
          </a:xfrm>
          <a:prstGeom prst="line">
            <a:avLst/>
          </a:prstGeom>
          <a:noFill/>
          <a:ln w="3175">
            <a:solidFill>
              <a:srgbClr val="8A9AB8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4846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81328" y="4892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SPONSORSHIP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87368" y="4846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€8–20K / ep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27648" y="4892040"/>
            <a:ext cx="4977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Aligned brands only. No extraction, no rug pulls, no fast food.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6968" y="5285232"/>
            <a:ext cx="10417759" cy="0"/>
          </a:xfrm>
          <a:prstGeom prst="line">
            <a:avLst/>
          </a:prstGeom>
          <a:noFill/>
          <a:ln w="3175">
            <a:solidFill>
              <a:srgbClr val="8A9AB8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53035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81328" y="5349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87368" y="5303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€1.5–4K / seat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27648" y="5349240"/>
            <a:ext cx="4977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Flagship gatherings under the FRQNCY banner.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6968" y="5742432"/>
            <a:ext cx="10417759" cy="0"/>
          </a:xfrm>
          <a:prstGeom prst="line">
            <a:avLst/>
          </a:prstGeom>
          <a:noFill/>
          <a:ln w="3175">
            <a:solidFill>
              <a:srgbClr val="8A9AB8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5760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481328" y="5806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87368" y="5760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€4K+ / yr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327648" y="5806440"/>
            <a:ext cx="4977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Access to the physical node — retreats, residency, community.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GO TO MARKET  ·  13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Owned from day one.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GO TO MARKET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783080"/>
            <a:ext cx="104177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Trust-led. Seeker-pulled.
</a:t>
            </a:r>
            <a:pPr indent="0" marL="0">
              <a:buNone/>
            </a:pPr>
            <a:r>
              <a:rPr lang="en-US" sz="52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Owned from day one.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886968" y="370332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4023360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PODCAST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4315968"/>
            <a:ext cx="498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Top-of-funnel for the already-searching. A compounding asset, not an ad spend.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5848" y="4023360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PRACTITIONER ALLIES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315968"/>
            <a:ext cx="498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Early teachers bring their audiences onto the library — aligned distribution.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5074920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STEWARD CIRCLE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5367528"/>
            <a:ext cx="498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30–50 high-trust humans with reach and intent, co-hosting the earliest gatherings.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5848" y="5074920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OWNED CHANNELS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5848" y="5367528"/>
            <a:ext cx="498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Email, community, platform — no algorithmic dependency, no rented land.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POSITIONING  ·  14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Competitive stance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category of one, by design.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POSITIONING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874520"/>
            <a:ext cx="104177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There is no competition —
</a:t>
            </a:r>
            <a:pPr indent="0" marL="0">
              <a:buNone/>
            </a:pPr>
            <a:r>
              <a:rPr lang="en-US" sz="58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only cooperation.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886968" y="384048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4160520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7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TRADITIONAL MEDIA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4480560"/>
            <a:ext cx="2403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Broadcasts outward. We curate inward.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91408" y="4160520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7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WELLNESS APPS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91408" y="4480560"/>
            <a:ext cx="2403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Sell one practice. We map the whole field.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5848" y="4160520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7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SOCIAL PLATFORMS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95848" y="4480560"/>
            <a:ext cx="2403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Extract attention. We invest in alignment.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00287" y="4160520"/>
            <a:ext cx="240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7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RETREAT CENTRES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00287" y="4480560"/>
            <a:ext cx="2403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Serve a few. We connect the many — then host them.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TEAM  ·  15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constellation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People already aligned, already building.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TEAM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783080"/>
            <a:ext cx="1041775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Founder, stewards, and
</a:t>
            </a:r>
            <a:pPr indent="0" marL="0">
              <a:buNone/>
            </a:pPr>
            <a:r>
              <a:rPr lang="en-US" sz="42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an advisory circle already aligned.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886968" y="379476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4069080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FOUNDER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4361688"/>
            <a:ext cx="498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Orlando Eisenreich — product, platform, and nine years in motion.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5848" y="4069080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STEWARDS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361688"/>
            <a:ext cx="498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 co-builders confirmed. Product, editorial, operations.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" y="5120640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ADVISORS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5413248"/>
            <a:ext cx="498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7 aligned — including founders in wellness, publishing, and spiritual tech.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5848" y="5120640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HIRING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5848" y="5413248"/>
            <a:ext cx="498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Head of Curation (Q3) · Head of Community (Q4) · Lead Engineer (Q1 '27).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STATUS  ·  16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Live, shipping, and already in motion.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STATUS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737360"/>
            <a:ext cx="1041775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Live, shipping,
</a:t>
            </a:r>
            <a:pPr indent="0" marL="0">
              <a:buNone/>
            </a:pPr>
            <a:r>
              <a:rPr lang="en-US" sz="54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and already in motion.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886968" y="402336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4251960"/>
            <a:ext cx="242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138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86968" y="5074920"/>
            <a:ext cx="242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Domain pages live on frqncy.network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91408" y="4251960"/>
            <a:ext cx="242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14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91408" y="5074920"/>
            <a:ext cx="242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Pillars fully mapped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5848" y="4251960"/>
            <a:ext cx="242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300+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095848" y="5074920"/>
            <a:ext cx="242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Resources curated across books, people, orgs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00287" y="4251960"/>
            <a:ext cx="242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1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700287" y="5074920"/>
            <a:ext cx="242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Flagship space — location under negotiation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TRAJECTORY  ·  17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3-year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Compounding, not scaling.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TRAJECTORY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783080"/>
            <a:ext cx="1041775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1,000 members  ·  €2M ARR  ·
</a:t>
            </a:r>
            <a:pPr indent="0" marL="0">
              <a:buNone/>
            </a:pPr>
            <a:r>
              <a:rPr lang="en-US" sz="46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1 flagship node.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886968" y="384048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4160520"/>
            <a:ext cx="324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YEAR 1 ·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4507992"/>
            <a:ext cx="324398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Platform live · 1K members · podcast flywheel · €0.35M ARR.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59554" y="4160520"/>
            <a:ext cx="324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YEAR 2 · 2027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59554" y="4507992"/>
            <a:ext cx="324398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5K members · 50 practitioner partnerships · €1.1M ARR · location signed.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32141" y="4160520"/>
            <a:ext cx="32439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YEAR 3 · 2028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32141" y="4507992"/>
            <a:ext cx="324398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12K members · flagship Space live · €2M+ ARR · path to profitability.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ASK  ·  18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Seed the foundation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€1,000,000 for 0.5% — seed round.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86968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✦   THE 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417320"/>
            <a:ext cx="104177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Seed the foundation.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0" y="2057400"/>
            <a:ext cx="1219169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€1M</a:t>
            </a:r>
            <a:endParaRPr lang="en-US" sz="22000" dirty="0"/>
          </a:p>
        </p:txBody>
      </p:sp>
      <p:sp>
        <p:nvSpPr>
          <p:cNvPr id="8" name="Text 6"/>
          <p:cNvSpPr/>
          <p:nvPr/>
        </p:nvSpPr>
        <p:spPr>
          <a:xfrm>
            <a:off x="0" y="4434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for 0.5% · seed round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998568" y="5029200"/>
            <a:ext cx="219456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257800"/>
            <a:ext cx="3243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50% · BUILD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5577840"/>
            <a:ext cx="32439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Platform engineering, curation team, podcast production.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59554" y="5257800"/>
            <a:ext cx="3243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30% · FIELD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59554" y="5577840"/>
            <a:ext cx="32439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Community, partnerships, practitioner onboarding.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32141" y="5257800"/>
            <a:ext cx="3243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973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20% · NODE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32141" y="5577840"/>
            <a:ext cx="32439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4F7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Space location, design, legal — first physical site.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247" y="301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CLOSING  ·  19 /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6968" y="6355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Join the movement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03927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500" kern="0" dirty="0">
                <a:solidFill>
                  <a:srgbClr val="8A9A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FRQNCY · frqncy.network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821528" y="1645920"/>
            <a:ext cx="548640" cy="0"/>
          </a:xfrm>
          <a:prstGeom prst="line">
            <a:avLst/>
          </a:prstGeom>
          <a:noFill/>
          <a:ln w="19050">
            <a:solidFill>
              <a:srgbClr val="C497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5848" y="1371600"/>
            <a:ext cx="0" cy="548640"/>
          </a:xfrm>
          <a:prstGeom prst="line">
            <a:avLst/>
          </a:prstGeom>
          <a:noFill/>
          <a:ln w="19050">
            <a:solidFill>
              <a:srgbClr val="C497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01080" y="1451153"/>
            <a:ext cx="389534" cy="389534"/>
          </a:xfrm>
          <a:prstGeom prst="line">
            <a:avLst/>
          </a:prstGeom>
          <a:noFill/>
          <a:ln w="19050">
            <a:solidFill>
              <a:srgbClr val="C497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01080" y="1840687"/>
            <a:ext cx="389534" cy="-389534"/>
          </a:xfrm>
          <a:prstGeom prst="line">
            <a:avLst/>
          </a:prstGeom>
          <a:noFill/>
          <a:ln w="19050">
            <a:solidFill>
              <a:srgbClr val="C497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59272" y="1609344"/>
            <a:ext cx="73152" cy="73152"/>
          </a:xfrm>
          <a:prstGeom prst="ellipse">
            <a:avLst/>
          </a:prstGeom>
          <a:solidFill>
            <a:srgbClr val="C4973A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You are </a:t>
            </a:r>
            <a:pPr algn="ctr" indent="0" marL="0">
              <a:buNone/>
            </a:pPr>
            <a:r>
              <a:rPr lang="en-US" sz="7800" i="1" dirty="0">
                <a:solidFill>
                  <a:srgbClr val="E8C97D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love and light.</a:t>
            </a:r>
            <a:endParaRPr lang="en-US" sz="7800" dirty="0"/>
          </a:p>
        </p:txBody>
      </p:sp>
      <p:sp>
        <p:nvSpPr>
          <p:cNvPr id="11" name="Shape 9"/>
          <p:cNvSpPr/>
          <p:nvPr/>
        </p:nvSpPr>
        <p:spPr>
          <a:xfrm>
            <a:off x="4907128" y="4297680"/>
            <a:ext cx="2377440" cy="0"/>
          </a:xfrm>
          <a:prstGeom prst="line">
            <a:avLst/>
          </a:prstGeom>
          <a:noFill/>
          <a:ln w="12700">
            <a:solidFill>
              <a:srgbClr val="C4973A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48056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4F7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Build the bridge with us.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0" y="52120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E8C97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orlando@frqncy.network   ·   frqncy.network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FRQNCY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FRQNCY — Investor Pitch</dc:title>
  <dc:subject>FRQNCY</dc:subject>
  <dc:creator>Orlando Eisenreich</dc:creator>
  <cp:lastModifiedBy>Orlando Eisenreich</cp:lastModifiedBy>
  <cp:revision>1</cp:revision>
  <dcterms:created xsi:type="dcterms:W3CDTF">2026-04-19T07:55:41Z</dcterms:created>
  <dcterms:modified xsi:type="dcterms:W3CDTF">2026-04-19T07:55:41Z</dcterms:modified>
</cp:coreProperties>
</file>